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hAFe/0MdjwSKt7nyULBQqwzb8o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F845DD-763C-4290-AE29-467686ADA806}" v="58" dt="2026-09-04T20:47:39.361"/>
  </p1510:revLst>
</p1510:revInfo>
</file>

<file path=ppt/tableStyles.xml><?xml version="1.0" encoding="utf-8"?>
<a:tblStyleLst xmlns:a="http://schemas.openxmlformats.org/drawingml/2006/main" def="{91E4A574-7E8A-437F-942C-B3B3A17357DA}">
  <a:tblStyle styleId="{91E4A574-7E8A-437F-942C-B3B3A17357D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68" autoAdjust="0"/>
    <p:restoredTop sz="94660"/>
  </p:normalViewPr>
  <p:slideViewPr>
    <p:cSldViewPr snapToGrid="0">
      <p:cViewPr varScale="1">
        <p:scale>
          <a:sx n="83" d="100"/>
          <a:sy n="83" d="100"/>
        </p:scale>
        <p:origin x="22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z Hermosilla Sarabia" userId="06a9f658e5164923" providerId="LiveId" clId="{A34235C4-55A4-49CB-93FA-15CEBDC60CC2}"/>
    <pc:docChg chg="undo custSel modSld">
      <pc:chgData name="Luz Hermosilla Sarabia" userId="06a9f658e5164923" providerId="LiveId" clId="{A34235C4-55A4-49CB-93FA-15CEBDC60CC2}" dt="2026-09-04T20:48:41.309" v="217" actId="1076"/>
      <pc:docMkLst>
        <pc:docMk/>
      </pc:docMkLst>
      <pc:sldChg chg="modSp mod">
        <pc:chgData name="Luz Hermosilla Sarabia" userId="06a9f658e5164923" providerId="LiveId" clId="{A34235C4-55A4-49CB-93FA-15CEBDC60CC2}" dt="2026-09-03T23:59:24.739" v="3" actId="20577"/>
        <pc:sldMkLst>
          <pc:docMk/>
          <pc:sldMk cId="0" sldId="256"/>
        </pc:sldMkLst>
        <pc:spChg chg="mod">
          <ac:chgData name="Luz Hermosilla Sarabia" userId="06a9f658e5164923" providerId="LiveId" clId="{A34235C4-55A4-49CB-93FA-15CEBDC60CC2}" dt="2026-09-03T23:59:24.739" v="3" actId="20577"/>
          <ac:spMkLst>
            <pc:docMk/>
            <pc:sldMk cId="0" sldId="256"/>
            <ac:spMk id="85" creationId="{00000000-0000-0000-0000-000000000000}"/>
          </ac:spMkLst>
        </pc:spChg>
      </pc:sldChg>
      <pc:sldChg chg="modSp mod">
        <pc:chgData name="Luz Hermosilla Sarabia" userId="06a9f658e5164923" providerId="LiveId" clId="{A34235C4-55A4-49CB-93FA-15CEBDC60CC2}" dt="2026-09-03T23:59:39.945" v="4" actId="1076"/>
        <pc:sldMkLst>
          <pc:docMk/>
          <pc:sldMk cId="0" sldId="257"/>
        </pc:sldMkLst>
        <pc:spChg chg="mod">
          <ac:chgData name="Luz Hermosilla Sarabia" userId="06a9f658e5164923" providerId="LiveId" clId="{A34235C4-55A4-49CB-93FA-15CEBDC60CC2}" dt="2026-09-03T23:59:39.945" v="4" actId="1076"/>
          <ac:spMkLst>
            <pc:docMk/>
            <pc:sldMk cId="0" sldId="257"/>
            <ac:spMk id="101" creationId="{00000000-0000-0000-0000-000000000000}"/>
          </ac:spMkLst>
        </pc:spChg>
      </pc:sldChg>
      <pc:sldChg chg="addSp delSp modSp mod">
        <pc:chgData name="Luz Hermosilla Sarabia" userId="06a9f658e5164923" providerId="LiveId" clId="{A34235C4-55A4-49CB-93FA-15CEBDC60CC2}" dt="2026-09-04T20:48:41.309" v="217" actId="1076"/>
        <pc:sldMkLst>
          <pc:docMk/>
          <pc:sldMk cId="0" sldId="261"/>
        </pc:sldMkLst>
        <pc:spChg chg="add del mod">
          <ac:chgData name="Luz Hermosilla Sarabia" userId="06a9f658e5164923" providerId="LiveId" clId="{A34235C4-55A4-49CB-93FA-15CEBDC60CC2}" dt="2026-09-04T17:42:46.203" v="13" actId="22"/>
          <ac:spMkLst>
            <pc:docMk/>
            <pc:sldMk cId="0" sldId="261"/>
            <ac:spMk id="3" creationId="{3736C359-2821-CDC8-4920-D33457494F33}"/>
          </ac:spMkLst>
        </pc:spChg>
        <pc:spChg chg="mod">
          <ac:chgData name="Luz Hermosilla Sarabia" userId="06a9f658e5164923" providerId="LiveId" clId="{A34235C4-55A4-49CB-93FA-15CEBDC60CC2}" dt="2026-09-03T23:59:58.224" v="6" actId="404"/>
          <ac:spMkLst>
            <pc:docMk/>
            <pc:sldMk cId="0" sldId="261"/>
            <ac:spMk id="142" creationId="{00000000-0000-0000-0000-000000000000}"/>
          </ac:spMkLst>
        </pc:spChg>
        <pc:spChg chg="mod">
          <ac:chgData name="Luz Hermosilla Sarabia" userId="06a9f658e5164923" providerId="LiveId" clId="{A34235C4-55A4-49CB-93FA-15CEBDC60CC2}" dt="2026-09-04T20:48:41.309" v="217" actId="1076"/>
          <ac:spMkLst>
            <pc:docMk/>
            <pc:sldMk cId="0" sldId="261"/>
            <ac:spMk id="143" creationId="{00000000-0000-0000-0000-000000000000}"/>
          </ac:spMkLst>
        </pc:spChg>
        <pc:picChg chg="add mod modCrop">
          <ac:chgData name="Luz Hermosilla Sarabia" userId="06a9f658e5164923" providerId="LiveId" clId="{A34235C4-55A4-49CB-93FA-15CEBDC60CC2}" dt="2026-09-04T20:48:32.487" v="214" actId="1076"/>
          <ac:picMkLst>
            <pc:docMk/>
            <pc:sldMk cId="0" sldId="261"/>
            <ac:picMk id="5" creationId="{171F30AB-18D9-5527-F69E-07135D1F675C}"/>
          </ac:picMkLst>
        </pc:picChg>
      </pc:sldChg>
      <pc:sldChg chg="modSp mod">
        <pc:chgData name="Luz Hermosilla Sarabia" userId="06a9f658e5164923" providerId="LiveId" clId="{A34235C4-55A4-49CB-93FA-15CEBDC60CC2}" dt="2026-09-04T20:48:08.983" v="211" actId="1076"/>
        <pc:sldMkLst>
          <pc:docMk/>
          <pc:sldMk cId="0" sldId="262"/>
        </pc:sldMkLst>
        <pc:spChg chg="mod">
          <ac:chgData name="Luz Hermosilla Sarabia" userId="06a9f658e5164923" providerId="LiveId" clId="{A34235C4-55A4-49CB-93FA-15CEBDC60CC2}" dt="2026-09-04T20:48:04.636" v="210" actId="1076"/>
          <ac:spMkLst>
            <pc:docMk/>
            <pc:sldMk cId="0" sldId="262"/>
            <ac:spMk id="151" creationId="{00000000-0000-0000-0000-000000000000}"/>
          </ac:spMkLst>
        </pc:spChg>
        <pc:graphicFrameChg chg="mod modGraphic">
          <ac:chgData name="Luz Hermosilla Sarabia" userId="06a9f658e5164923" providerId="LiveId" clId="{A34235C4-55A4-49CB-93FA-15CEBDC60CC2}" dt="2026-09-04T20:48:08.983" v="211" actId="1076"/>
          <ac:graphicFrameMkLst>
            <pc:docMk/>
            <pc:sldMk cId="0" sldId="262"/>
            <ac:graphicFrameMk id="153" creationId="{00000000-0000-0000-0000-000000000000}"/>
          </ac:graphicFrameMkLst>
        </pc:graphicFrameChg>
      </pc:sldChg>
      <pc:sldChg chg="addSp modSp mod">
        <pc:chgData name="Luz Hermosilla Sarabia" userId="06a9f658e5164923" providerId="LiveId" clId="{A34235C4-55A4-49CB-93FA-15CEBDC60CC2}" dt="2026-09-04T20:47:06.311" v="201" actId="14100"/>
        <pc:sldMkLst>
          <pc:docMk/>
          <pc:sldMk cId="0" sldId="263"/>
        </pc:sldMkLst>
        <pc:spChg chg="mod">
          <ac:chgData name="Luz Hermosilla Sarabia" userId="06a9f658e5164923" providerId="LiveId" clId="{A34235C4-55A4-49CB-93FA-15CEBDC60CC2}" dt="2026-09-04T20:45:28.122" v="174" actId="404"/>
          <ac:spMkLst>
            <pc:docMk/>
            <pc:sldMk cId="0" sldId="263"/>
            <ac:spMk id="159" creationId="{00000000-0000-0000-0000-000000000000}"/>
          </ac:spMkLst>
        </pc:spChg>
        <pc:spChg chg="mod">
          <ac:chgData name="Luz Hermosilla Sarabia" userId="06a9f658e5164923" providerId="LiveId" clId="{A34235C4-55A4-49CB-93FA-15CEBDC60CC2}" dt="2026-09-04T20:45:44.215" v="180" actId="1076"/>
          <ac:spMkLst>
            <pc:docMk/>
            <pc:sldMk cId="0" sldId="263"/>
            <ac:spMk id="160" creationId="{00000000-0000-0000-0000-000000000000}"/>
          </ac:spMkLst>
        </pc:spChg>
        <pc:picChg chg="add mod">
          <ac:chgData name="Luz Hermosilla Sarabia" userId="06a9f658e5164923" providerId="LiveId" clId="{A34235C4-55A4-49CB-93FA-15CEBDC60CC2}" dt="2026-09-04T20:47:06.311" v="201" actId="14100"/>
          <ac:picMkLst>
            <pc:docMk/>
            <pc:sldMk cId="0" sldId="263"/>
            <ac:picMk id="3" creationId="{BF2CB618-D9A9-DE03-947C-EC1685D0BC71}"/>
          </ac:picMkLst>
        </pc:picChg>
        <pc:cxnChg chg="mod">
          <ac:chgData name="Luz Hermosilla Sarabia" userId="06a9f658e5164923" providerId="LiveId" clId="{A34235C4-55A4-49CB-93FA-15CEBDC60CC2}" dt="2026-09-04T20:45:38.584" v="178" actId="1076"/>
          <ac:cxnSpMkLst>
            <pc:docMk/>
            <pc:sldMk cId="0" sldId="263"/>
            <ac:cxnSpMk id="161" creationId="{00000000-0000-0000-0000-000000000000}"/>
          </ac:cxnSpMkLst>
        </pc:cxnChg>
      </pc:sldChg>
      <pc:sldChg chg="addSp modSp mod">
        <pc:chgData name="Luz Hermosilla Sarabia" userId="06a9f658e5164923" providerId="LiveId" clId="{A34235C4-55A4-49CB-93FA-15CEBDC60CC2}" dt="2026-09-04T20:46:43.997" v="195" actId="1076"/>
        <pc:sldMkLst>
          <pc:docMk/>
          <pc:sldMk cId="0" sldId="265"/>
        </pc:sldMkLst>
        <pc:spChg chg="mod">
          <ac:chgData name="Luz Hermosilla Sarabia" userId="06a9f658e5164923" providerId="LiveId" clId="{A34235C4-55A4-49CB-93FA-15CEBDC60CC2}" dt="2026-09-04T20:46:07.686" v="186" actId="404"/>
          <ac:spMkLst>
            <pc:docMk/>
            <pc:sldMk cId="0" sldId="265"/>
            <ac:spMk id="175" creationId="{00000000-0000-0000-0000-000000000000}"/>
          </ac:spMkLst>
        </pc:spChg>
        <pc:spChg chg="mod">
          <ac:chgData name="Luz Hermosilla Sarabia" userId="06a9f658e5164923" providerId="LiveId" clId="{A34235C4-55A4-49CB-93FA-15CEBDC60CC2}" dt="2026-09-04T20:46:14.524" v="188" actId="1076"/>
          <ac:spMkLst>
            <pc:docMk/>
            <pc:sldMk cId="0" sldId="265"/>
            <ac:spMk id="176" creationId="{00000000-0000-0000-0000-000000000000}"/>
          </ac:spMkLst>
        </pc:spChg>
        <pc:picChg chg="add mod modCrop">
          <ac:chgData name="Luz Hermosilla Sarabia" userId="06a9f658e5164923" providerId="LiveId" clId="{A34235C4-55A4-49CB-93FA-15CEBDC60CC2}" dt="2026-09-04T20:46:43.997" v="195" actId="1076"/>
          <ac:picMkLst>
            <pc:docMk/>
            <pc:sldMk cId="0" sldId="265"/>
            <ac:picMk id="3" creationId="{BE6F1849-FFC7-0259-42FF-CF071791870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086930" y="1804894"/>
            <a:ext cx="9477554" cy="21851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“</a:t>
            </a:r>
            <a:r>
              <a:rPr lang="es-CL" sz="4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SSO Gestión de riesgo industrial v2 </a:t>
            </a:r>
            <a:r>
              <a:rPr lang="es-CL" sz="4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s-CL"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endParaRPr sz="2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"/>
          <p:cNvSpPr txBox="1"/>
          <p:nvPr/>
        </p:nvSpPr>
        <p:spPr>
          <a:xfrm>
            <a:off x="887087" y="1976099"/>
            <a:ext cx="3918823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grpSp>
        <p:nvGrpSpPr>
          <p:cNvPr id="94" name="Google Shape;94;p2"/>
          <p:cNvGrpSpPr/>
          <p:nvPr/>
        </p:nvGrpSpPr>
        <p:grpSpPr>
          <a:xfrm>
            <a:off x="278442" y="992902"/>
            <a:ext cx="11199915" cy="5760680"/>
            <a:chOff x="1148635" y="984526"/>
            <a:chExt cx="10479737" cy="5604711"/>
          </a:xfrm>
        </p:grpSpPr>
        <p:sp>
          <p:nvSpPr>
            <p:cNvPr id="95" name="Google Shape;95;p2"/>
            <p:cNvSpPr/>
            <p:nvPr/>
          </p:nvSpPr>
          <p:spPr>
            <a:xfrm>
              <a:off x="7055462" y="984526"/>
              <a:ext cx="4572909" cy="1820387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13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7308740" y="1160966"/>
              <a:ext cx="4066352" cy="14451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9050" tIns="99050" rIns="99050" bIns="990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lang="es-CL" sz="2000" dirty="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Rodrigo </a:t>
              </a:r>
              <a:r>
                <a:rPr lang="es-CL" sz="2000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Lopez</a:t>
              </a:r>
              <a:endParaRPr sz="20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R="0" lvl="1" algn="l" rtl="0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</a:pPr>
              <a:r>
                <a:rPr lang="es-CL" sz="1800" dirty="0" err="1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Developer</a:t>
              </a:r>
              <a:endParaRPr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285750" lvl="2" indent="-285750">
                <a:lnSpc>
                  <a:spcPct val="90000"/>
                </a:lnSpc>
                <a:spcBef>
                  <a:spcPts val="910"/>
                </a:spcBef>
                <a:buClr>
                  <a:schemeClr val="lt1"/>
                </a:buClr>
                <a:buSzPts val="2000"/>
                <a:buFont typeface="Arial" panose="020B0604020202020204" pitchFamily="34" charset="0"/>
                <a:buChar char="•"/>
              </a:pPr>
              <a:r>
                <a:rPr lang="es-ES" sz="1600" dirty="0">
                  <a:solidFill>
                    <a:schemeClr val="lt1"/>
                  </a:solidFill>
                  <a:latin typeface="Calibri"/>
                  <a:ea typeface="Calibri"/>
                  <a:cs typeface="Calibri"/>
                </a:rPr>
                <a:t>Desarrollo e integración de funcionalidades</a:t>
              </a:r>
            </a:p>
            <a:p>
              <a:pPr marL="285750" lvl="1" indent="-285750">
                <a:lnSpc>
                  <a:spcPct val="90000"/>
                </a:lnSpc>
                <a:spcBef>
                  <a:spcPts val="910"/>
                </a:spcBef>
                <a:buClr>
                  <a:schemeClr val="lt1"/>
                </a:buClr>
                <a:buSzPts val="2000"/>
                <a:buFont typeface="Arial" panose="020B0604020202020204" pitchFamily="34" charset="0"/>
                <a:buChar char="•"/>
              </a:pPr>
              <a:r>
                <a:rPr lang="es-ES" sz="1600" dirty="0">
                  <a:solidFill>
                    <a:schemeClr val="lt1"/>
                  </a:solidFill>
                  <a:latin typeface="Calibri"/>
                  <a:ea typeface="Calibri"/>
                  <a:cs typeface="Calibri"/>
                </a:rPr>
                <a:t>Cumplimiento de objetivos del Sprint</a:t>
              </a:r>
              <a:endParaRPr sz="16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7055462" y="2923966"/>
              <a:ext cx="4572909" cy="1728857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13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7055462" y="4860380"/>
              <a:ext cx="4572910" cy="1728857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13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1148635" y="3788394"/>
              <a:ext cx="5318794" cy="2324546"/>
            </a:xfrm>
            <a:prstGeom prst="roundRect">
              <a:avLst>
                <a:gd name="adj" fmla="val 10000"/>
              </a:avLst>
            </a:prstGeom>
            <a:gradFill>
              <a:gsLst>
                <a:gs pos="0">
                  <a:srgbClr val="6EA2D9"/>
                </a:gs>
                <a:gs pos="50000">
                  <a:srgbClr val="5197DA"/>
                </a:gs>
                <a:gs pos="100000">
                  <a:srgbClr val="4185C7"/>
                </a:gs>
              </a:gsLst>
              <a:lin ang="5400012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14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3" name="Google Shape;112;p3">
            <a:extLst>
              <a:ext uri="{FF2B5EF4-FFF2-40B4-BE49-F238E27FC236}">
                <a16:creationId xmlns:a16="http://schemas.microsoft.com/office/drawing/2014/main" id="{47B63DF5-BD08-7E74-E9A8-6AAB742EE6A1}"/>
              </a:ext>
            </a:extLst>
          </p:cNvPr>
          <p:cNvSpPr txBox="1"/>
          <p:nvPr/>
        </p:nvSpPr>
        <p:spPr>
          <a:xfrm>
            <a:off x="136188" y="368928"/>
            <a:ext cx="4343797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dirty="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“SSO Gestión de riesgo industrial v2”</a:t>
            </a:r>
            <a:endParaRPr sz="1200" dirty="0"/>
          </a:p>
        </p:txBody>
      </p:sp>
      <p:sp>
        <p:nvSpPr>
          <p:cNvPr id="5" name="Google Shape;96;p2">
            <a:extLst>
              <a:ext uri="{FF2B5EF4-FFF2-40B4-BE49-F238E27FC236}">
                <a16:creationId xmlns:a16="http://schemas.microsoft.com/office/drawing/2014/main" id="{4A8F9624-0F5B-E346-9F75-8060F718D17A}"/>
              </a:ext>
            </a:extLst>
          </p:cNvPr>
          <p:cNvSpPr txBox="1"/>
          <p:nvPr/>
        </p:nvSpPr>
        <p:spPr>
          <a:xfrm>
            <a:off x="6812740" y="3026547"/>
            <a:ext cx="3918823" cy="1529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lang="es-CL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Jorge</a:t>
            </a: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Solís </a:t>
            </a:r>
            <a:endParaRPr sz="20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1" algn="l" rtl="0">
              <a:lnSpc>
                <a:spcPct val="90000"/>
              </a:lnSpc>
              <a:spcBef>
                <a:spcPts val="910"/>
              </a:spcBef>
              <a:spcAft>
                <a:spcPts val="0"/>
              </a:spcAft>
              <a:buClr>
                <a:schemeClr val="lt1"/>
              </a:buClr>
              <a:buSzPts val="2000"/>
            </a:pPr>
            <a:r>
              <a:rPr lang="es-CL" sz="18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Developer</a:t>
            </a: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2" indent="-285750">
              <a:lnSpc>
                <a:spcPct val="90000"/>
              </a:lnSpc>
              <a:spcBef>
                <a:spcPts val="910"/>
              </a:spcBef>
              <a:buClr>
                <a:schemeClr val="lt1"/>
              </a:buClr>
              <a:buSzPts val="2000"/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Pruebas y aseguramiento de calidad</a:t>
            </a:r>
          </a:p>
          <a:p>
            <a:pPr marL="285750" lvl="1" indent="-285750">
              <a:lnSpc>
                <a:spcPct val="90000"/>
              </a:lnSpc>
              <a:spcBef>
                <a:spcPts val="910"/>
              </a:spcBef>
              <a:buClr>
                <a:schemeClr val="lt1"/>
              </a:buClr>
              <a:buSzPts val="2000"/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Validación de criterios de aceptación</a:t>
            </a:r>
            <a:endParaRPr sz="16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96;p2">
            <a:extLst>
              <a:ext uri="{FF2B5EF4-FFF2-40B4-BE49-F238E27FC236}">
                <a16:creationId xmlns:a16="http://schemas.microsoft.com/office/drawing/2014/main" id="{294AA694-72A7-5FA4-7053-5BBD83D1DAAF}"/>
              </a:ext>
            </a:extLst>
          </p:cNvPr>
          <p:cNvSpPr txBox="1"/>
          <p:nvPr/>
        </p:nvSpPr>
        <p:spPr>
          <a:xfrm>
            <a:off x="6778119" y="5036408"/>
            <a:ext cx="3708509" cy="1510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lang="es-CL" sz="20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Cristóbal González</a:t>
            </a:r>
            <a:endParaRPr sz="20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1" algn="l" rtl="0">
              <a:lnSpc>
                <a:spcPct val="90000"/>
              </a:lnSpc>
              <a:spcBef>
                <a:spcPts val="910"/>
              </a:spcBef>
              <a:spcAft>
                <a:spcPts val="0"/>
              </a:spcAft>
              <a:buClr>
                <a:schemeClr val="lt1"/>
              </a:buClr>
              <a:buSzPts val="2000"/>
            </a:pPr>
            <a:r>
              <a:rPr lang="es-CL" sz="1800" dirty="0" err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Developer</a:t>
            </a: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lvl="2" indent="-285750">
              <a:spcBef>
                <a:spcPts val="910"/>
              </a:spcBef>
              <a:buClr>
                <a:schemeClr val="lt1"/>
              </a:buClr>
              <a:buSzPts val="2000"/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Diseño y desarrollo de la solución</a:t>
            </a:r>
          </a:p>
          <a:p>
            <a:pPr marL="285750" lvl="1" indent="-285750">
              <a:spcBef>
                <a:spcPts val="910"/>
              </a:spcBef>
              <a:buClr>
                <a:schemeClr val="lt1"/>
              </a:buClr>
              <a:buSzPts val="2000"/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lt1"/>
                </a:solidFill>
                <a:latin typeface="Calibri"/>
                <a:ea typeface="Calibri"/>
                <a:cs typeface="Calibri"/>
              </a:rPr>
              <a:t>Construcción de funcionalidades</a:t>
            </a:r>
            <a:endParaRPr sz="1600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8648CAE-4B74-53E8-2632-219AB11A58BD}"/>
              </a:ext>
            </a:extLst>
          </p:cNvPr>
          <p:cNvSpPr txBox="1"/>
          <p:nvPr/>
        </p:nvSpPr>
        <p:spPr>
          <a:xfrm>
            <a:off x="454826" y="4058949"/>
            <a:ext cx="4916555" cy="2122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lnSpc>
                <a:spcPct val="90000"/>
              </a:lnSpc>
              <a:buClr>
                <a:schemeClr val="lt1"/>
              </a:buClr>
              <a:buSzPts val="2600"/>
              <a:buFont typeface="Calibri"/>
              <a:buNone/>
              <a:defRPr sz="2000"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1pPr>
            <a:lvl2pPr>
              <a:lnSpc>
                <a:spcPct val="90000"/>
              </a:lnSpc>
              <a:spcBef>
                <a:spcPts val="910"/>
              </a:spcBef>
              <a:buClr>
                <a:schemeClr val="lt1"/>
              </a:buClr>
              <a:buSzPts val="2000"/>
              <a:defRPr sz="1800"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2pPr>
            <a:lvl3pPr marL="285750" indent="-285750">
              <a:lnSpc>
                <a:spcPct val="90000"/>
              </a:lnSpc>
              <a:spcBef>
                <a:spcPts val="910"/>
              </a:spcBef>
              <a:buClr>
                <a:schemeClr val="lt1"/>
              </a:buClr>
              <a:buSzPts val="2000"/>
              <a:buFont typeface="Arial" panose="020B0604020202020204" pitchFamily="34" charset="0"/>
              <a:buChar char="•"/>
              <a:defRPr sz="1600">
                <a:solidFill>
                  <a:schemeClr val="lt1"/>
                </a:solidFill>
                <a:latin typeface="Calibri"/>
                <a:ea typeface="Calibri"/>
                <a:cs typeface="Calibri"/>
              </a:defRPr>
            </a:lvl3pPr>
          </a:lstStyle>
          <a:p>
            <a:r>
              <a:rPr lang="es-ES" dirty="0"/>
              <a:t>Luz Hermosilla</a:t>
            </a:r>
          </a:p>
          <a:p>
            <a:br>
              <a:rPr lang="es-ES" dirty="0"/>
            </a:br>
            <a:r>
              <a:rPr lang="es-ES" sz="1800" dirty="0" err="1"/>
              <a:t>Product</a:t>
            </a:r>
            <a:r>
              <a:rPr lang="es-ES" sz="1800" dirty="0"/>
              <a:t> Owner</a:t>
            </a:r>
          </a:p>
          <a:p>
            <a:pPr>
              <a:lnSpc>
                <a:spcPct val="100000"/>
              </a:lnSpc>
              <a:spcBef>
                <a:spcPts val="910"/>
              </a:spcBef>
              <a:buSzPts val="2000"/>
            </a:pPr>
            <a:r>
              <a:rPr lang="es-ES" sz="1600" dirty="0"/>
              <a:t>• Gestión y priorización del </a:t>
            </a:r>
            <a:r>
              <a:rPr lang="es-ES" sz="1600" dirty="0" err="1"/>
              <a:t>Product</a:t>
            </a:r>
            <a:r>
              <a:rPr lang="es-ES" sz="1600" dirty="0"/>
              <a:t> Backlog</a:t>
            </a:r>
            <a:br>
              <a:rPr lang="es-ES" sz="1600" dirty="0"/>
            </a:br>
            <a:r>
              <a:rPr lang="es-ES" sz="1600" dirty="0"/>
              <a:t>• Definición de requerimientos y criterios de aceptación</a:t>
            </a:r>
            <a:br>
              <a:rPr lang="es-ES" sz="1600" dirty="0"/>
            </a:br>
            <a:r>
              <a:rPr lang="es-ES" sz="1600" dirty="0"/>
              <a:t>• Seguimiento de los objetivos del producto</a:t>
            </a:r>
            <a:br>
              <a:rPr lang="es-ES" sz="1600" dirty="0"/>
            </a:br>
            <a:r>
              <a:rPr lang="es-ES" sz="1600" dirty="0"/>
              <a:t>• Coordinación y apoyo al equipo Scrum</a:t>
            </a:r>
          </a:p>
          <a:p>
            <a:br>
              <a:rPr lang="es-ES" dirty="0"/>
            </a:br>
            <a:endParaRPr lang="es-ES" sz="1600" dirty="0"/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3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 txBox="1"/>
          <p:nvPr/>
        </p:nvSpPr>
        <p:spPr>
          <a:xfrm>
            <a:off x="136188" y="368928"/>
            <a:ext cx="4343797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dirty="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“SSO Gestión de riesgo industrial v2”</a:t>
            </a:r>
            <a:endParaRPr sz="1200" dirty="0"/>
          </a:p>
        </p:txBody>
      </p:sp>
      <p:sp>
        <p:nvSpPr>
          <p:cNvPr id="113" name="Google Shape;113;p3"/>
          <p:cNvSpPr txBox="1"/>
          <p:nvPr/>
        </p:nvSpPr>
        <p:spPr>
          <a:xfrm>
            <a:off x="2612891" y="864352"/>
            <a:ext cx="6159261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15" name="Google Shape;115;p3"/>
          <p:cNvSpPr/>
          <p:nvPr/>
        </p:nvSpPr>
        <p:spPr>
          <a:xfrm>
            <a:off x="217424" y="1734979"/>
            <a:ext cx="5244859" cy="4645494"/>
          </a:xfrm>
          <a:prstGeom prst="roundRect">
            <a:avLst>
              <a:gd name="adj" fmla="val 10901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identificado</a:t>
            </a:r>
            <a:endParaRPr dirty="0"/>
          </a:p>
          <a:p>
            <a:pPr lvl="0" algn="just"/>
            <a:endParaRPr lang="es-E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just"/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Las organizaciones industriales presentan dificultades para conectar oportunamente los riesgos detectados en terreno con quienes deben gestionarlos y resolverlos.</a:t>
            </a:r>
          </a:p>
          <a:p>
            <a:pPr lvl="0" algn="just"/>
            <a:endParaRPr lang="es-E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Actualmente existen procesos manuales y fragmentados que generan:</a:t>
            </a:r>
          </a:p>
          <a:p>
            <a:pPr lvl="0"/>
            <a:endParaRPr lang="es-E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Pérdida y dispersión de información.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Falta de visibilidad oportuna de los riesgos.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Escasa trazabilidad de acciones correctivas.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Subreporte</a:t>
            </a:r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baja priorización de IAP.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Reportería manual y tardía.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Falta de retroalimentación al trabajador.</a:t>
            </a:r>
          </a:p>
          <a:p>
            <a:pPr lvl="0" algn="just"/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6483539" y="1734979"/>
            <a:ext cx="5491037" cy="4750280"/>
          </a:xfrm>
          <a:prstGeom prst="roundRect">
            <a:avLst>
              <a:gd name="adj" fmla="val 10901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8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u="sng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just"/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SSO propone una solución digital integrada, compuesta por una aplicación móvil y una plataforma web, que conecta el reporte en terreno con la gestión y resolución del riesgo.</a:t>
            </a:r>
          </a:p>
          <a:p>
            <a:pPr algn="just"/>
            <a:endParaRPr lang="es-E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Permitirá:</a:t>
            </a:r>
          </a:p>
          <a:p>
            <a:pPr algn="just"/>
            <a:endParaRPr lang="es-E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Registrar hallazgos con evidencia desde terreno.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Centralizar y mantener la trazabilidad de la información.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Gestionar responsables, acciones correctivas y SLA.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Priorizar IAP y zonas críticas mediante alertas.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Visualizar riesgos e indicadores para la toma de decisiones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Informar al trabajador sobre el avance y cierre de sus reportes.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5486771" y="3713253"/>
            <a:ext cx="966529" cy="75708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4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4"/>
          <p:cNvSpPr txBox="1"/>
          <p:nvPr/>
        </p:nvSpPr>
        <p:spPr>
          <a:xfrm>
            <a:off x="380184" y="1316067"/>
            <a:ext cx="442247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" name="Google Shape;125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6" name="Google Shape;126;p4"/>
          <p:cNvSpPr txBox="1"/>
          <p:nvPr/>
        </p:nvSpPr>
        <p:spPr>
          <a:xfrm>
            <a:off x="5971938" y="1316066"/>
            <a:ext cx="577394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506704" y="2352135"/>
            <a:ext cx="4669144" cy="3812876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Desarrollar e implementar una solución digital integral que permita optimizar la gestión de riesgos de seguridad ocupacional en entornos industriales, mediante el registro, centralización, gestión y seguimiento de los hallazgos detectados en terreno, asegurando su trazabilidad y facilitando la identificación oportuna de situaciones de riesgo, para contribuir a una gestión preventiva y apoyar la toma de decisiones.</a:t>
            </a:r>
            <a:endParaRPr sz="16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3" name="Google Shape;112;p3">
            <a:extLst>
              <a:ext uri="{FF2B5EF4-FFF2-40B4-BE49-F238E27FC236}">
                <a16:creationId xmlns:a16="http://schemas.microsoft.com/office/drawing/2014/main" id="{9DF71FDE-F7C6-AD77-0554-BAB072741F41}"/>
              </a:ext>
            </a:extLst>
          </p:cNvPr>
          <p:cNvSpPr txBox="1"/>
          <p:nvPr/>
        </p:nvSpPr>
        <p:spPr>
          <a:xfrm>
            <a:off x="136188" y="368928"/>
            <a:ext cx="4343797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dirty="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“SSO Gestión de riesgo industrial v2”</a:t>
            </a:r>
            <a:endParaRPr sz="1200" dirty="0"/>
          </a:p>
        </p:txBody>
      </p:sp>
      <p:sp>
        <p:nvSpPr>
          <p:cNvPr id="4" name="Google Shape;128;p4">
            <a:extLst>
              <a:ext uri="{FF2B5EF4-FFF2-40B4-BE49-F238E27FC236}">
                <a16:creationId xmlns:a16="http://schemas.microsoft.com/office/drawing/2014/main" id="{5CFA0993-A866-E8BE-E261-0229B38E83B3}"/>
              </a:ext>
            </a:extLst>
          </p:cNvPr>
          <p:cNvSpPr/>
          <p:nvPr/>
        </p:nvSpPr>
        <p:spPr>
          <a:xfrm>
            <a:off x="6448849" y="2352136"/>
            <a:ext cx="4949522" cy="3812875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1.Digitalizar el registro</a:t>
            </a:r>
          </a:p>
          <a:p>
            <a:pPr lvl="0"/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Centralizar hallazgos y evidencias.</a:t>
            </a:r>
          </a:p>
          <a:p>
            <a:pPr lvl="0"/>
            <a:r>
              <a:rPr lang="es-ES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2. </a:t>
            </a:r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Gestión y trazabilidad</a:t>
            </a:r>
          </a:p>
          <a:p>
            <a:pPr lvl="0"/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Responsables, acciones, plazos y cierre.</a:t>
            </a:r>
          </a:p>
          <a:p>
            <a:pPr lvl="0"/>
            <a:r>
              <a:rPr lang="es-ES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3. </a:t>
            </a:r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Priorización de riesgos</a:t>
            </a:r>
          </a:p>
          <a:p>
            <a:pPr lvl="0"/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IAP, zonas críticas, alertas y SLA.</a:t>
            </a:r>
          </a:p>
          <a:p>
            <a:pPr lvl="0"/>
            <a:r>
              <a:rPr lang="es-ES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4. </a:t>
            </a:r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Información para la gestión</a:t>
            </a:r>
          </a:p>
          <a:p>
            <a:pPr lvl="0"/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Indicadores, tendencias y reportes.</a:t>
            </a:r>
          </a:p>
          <a:p>
            <a:pPr lvl="0"/>
            <a:r>
              <a:rPr lang="es-ES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5. </a:t>
            </a:r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Retroalimentación</a:t>
            </a:r>
          </a:p>
          <a:p>
            <a:pPr lvl="0"/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Seguimiento del reporte por el trabajador.</a:t>
            </a:r>
          </a:p>
          <a:p>
            <a:pPr lvl="0"/>
            <a:r>
              <a:rPr lang="es-ES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6. </a:t>
            </a:r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Segregación </a:t>
            </a:r>
            <a:r>
              <a:rPr lang="es-E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multi-tenant</a:t>
            </a:r>
            <a:endParaRPr lang="es-E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/>
            <a:r>
              <a:rPr lang="es-CL" sz="1600" dirty="0">
                <a:solidFill>
                  <a:schemeClr val="dk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alibri"/>
              </a:rPr>
              <a:t>Separación de datos y usuarios por organización</a:t>
            </a:r>
            <a:endParaRPr sz="1600" dirty="0">
              <a:solidFill>
                <a:schemeClr val="dk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5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5"/>
          <p:cNvSpPr txBox="1"/>
          <p:nvPr/>
        </p:nvSpPr>
        <p:spPr>
          <a:xfrm>
            <a:off x="136188" y="368928"/>
            <a:ext cx="4729109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 dirty="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“SSO Gestión de riesgo industrial v2”</a:t>
            </a:r>
            <a:endParaRPr dirty="0"/>
          </a:p>
        </p:txBody>
      </p:sp>
      <p:sp>
        <p:nvSpPr>
          <p:cNvPr id="135" name="Google Shape;135;p5"/>
          <p:cNvSpPr txBox="1"/>
          <p:nvPr/>
        </p:nvSpPr>
        <p:spPr>
          <a:xfrm>
            <a:off x="2042808" y="990088"/>
            <a:ext cx="21139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</a:t>
            </a:r>
            <a:endParaRPr dirty="0"/>
          </a:p>
        </p:txBody>
      </p:sp>
      <p:cxnSp>
        <p:nvCxnSpPr>
          <p:cNvPr id="136" name="Google Shape;136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" name="Google Shape;127;p4">
            <a:extLst>
              <a:ext uri="{FF2B5EF4-FFF2-40B4-BE49-F238E27FC236}">
                <a16:creationId xmlns:a16="http://schemas.microsoft.com/office/drawing/2014/main" id="{906F30B7-9917-D77F-598E-06868E21A74D}"/>
              </a:ext>
            </a:extLst>
          </p:cNvPr>
          <p:cNvSpPr/>
          <p:nvPr/>
        </p:nvSpPr>
        <p:spPr>
          <a:xfrm>
            <a:off x="506704" y="1535313"/>
            <a:ext cx="5100466" cy="4635449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SSO contempla una aplicación móvil y una plataforma web para gestionar digitalmente el ciclo de vida de los hallazgos de seguridad, desde su detección en terreno hasta su seguimiento y cierre.</a:t>
            </a:r>
          </a:p>
          <a:p>
            <a:endParaRPr lang="es-E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Incluye: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Registro de hallazgos y evidencias.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Identificación y priorización de IAP.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Gestión de acciones correctivas, responsables y SLA.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Alertas y notificaciones.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Visualización de riesgos y zonas críticas.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Seguimiento y retroalimentación al trabajador.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Indicadores, información histórica y reportería.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Gestión de usuarios y roles.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Segregación de información mediante modelo </a:t>
            </a:r>
            <a:r>
              <a:rPr lang="es-E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multi-tenant</a:t>
            </a:r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5" name="Google Shape;127;p4">
            <a:extLst>
              <a:ext uri="{FF2B5EF4-FFF2-40B4-BE49-F238E27FC236}">
                <a16:creationId xmlns:a16="http://schemas.microsoft.com/office/drawing/2014/main" id="{D36B8767-3312-5072-9A59-4F7947579273}"/>
              </a:ext>
            </a:extLst>
          </p:cNvPr>
          <p:cNvSpPr/>
          <p:nvPr/>
        </p:nvSpPr>
        <p:spPr>
          <a:xfrm>
            <a:off x="6221919" y="1535313"/>
            <a:ext cx="5100466" cy="4635449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SSO proporciona las herramientas digitales para apoyar la gestión de riesgos, pero existen actividades y condiciones que dependen de la operación de cada organización.</a:t>
            </a:r>
          </a:p>
          <a:p>
            <a:endParaRPr lang="es-E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 consideran como limitaciones: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ejecuta físicamente las acciones correctivas</a:t>
            </a:r>
            <a:r>
              <a:rPr lang="es-ES" sz="1600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calidad de los resultados depende de la información registrada.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sincronización offline requiere recuperar posteriormente la conectividad.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visualización de riesgos depende de la correcta configuración de zonas y registros.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contempla integraciones externas que no estén definidas en el proyecto.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 considera hardware especializado para la detección automática de riesgos.</a:t>
            </a:r>
          </a:p>
        </p:txBody>
      </p:sp>
      <p:sp>
        <p:nvSpPr>
          <p:cNvPr id="9" name="Google Shape;135;p5">
            <a:extLst>
              <a:ext uri="{FF2B5EF4-FFF2-40B4-BE49-F238E27FC236}">
                <a16:creationId xmlns:a16="http://schemas.microsoft.com/office/drawing/2014/main" id="{CC86684E-1FCD-A011-8D4D-CE9DA0467FA8}"/>
              </a:ext>
            </a:extLst>
          </p:cNvPr>
          <p:cNvSpPr txBox="1"/>
          <p:nvPr/>
        </p:nvSpPr>
        <p:spPr>
          <a:xfrm>
            <a:off x="7365833" y="990129"/>
            <a:ext cx="2812638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Limitaciones</a:t>
            </a:r>
            <a:endParaRPr dirty="0"/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6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6"/>
          <p:cNvSpPr txBox="1"/>
          <p:nvPr/>
        </p:nvSpPr>
        <p:spPr>
          <a:xfrm>
            <a:off x="136188" y="368928"/>
            <a:ext cx="466009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dirty="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“SSO Gestión de riesgo industrial v2”</a:t>
            </a:r>
            <a:endParaRPr sz="1200" dirty="0"/>
          </a:p>
        </p:txBody>
      </p:sp>
      <p:sp>
        <p:nvSpPr>
          <p:cNvPr id="143" name="Google Shape;143;p6"/>
          <p:cNvSpPr txBox="1"/>
          <p:nvPr/>
        </p:nvSpPr>
        <p:spPr>
          <a:xfrm>
            <a:off x="442823" y="849541"/>
            <a:ext cx="10944044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171F30AB-18D9-5527-F69E-07135D1F67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55" t="22367" r="2532" b="3658"/>
          <a:stretch>
            <a:fillRect/>
          </a:stretch>
        </p:blipFill>
        <p:spPr>
          <a:xfrm>
            <a:off x="1201946" y="1637931"/>
            <a:ext cx="10023895" cy="443900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7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7"/>
          <p:cNvSpPr txBox="1"/>
          <p:nvPr/>
        </p:nvSpPr>
        <p:spPr>
          <a:xfrm>
            <a:off x="136188" y="1155656"/>
            <a:ext cx="11685915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o </a:t>
            </a:r>
            <a:r>
              <a:rPr lang="es-CL" sz="3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Release</a:t>
            </a:r>
            <a:r>
              <a:rPr lang="es-CL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Plan para el desarrollo del proyecto</a:t>
            </a:r>
            <a:endParaRPr dirty="0"/>
          </a:p>
        </p:txBody>
      </p:sp>
      <p:cxnSp>
        <p:nvCxnSpPr>
          <p:cNvPr id="152" name="Google Shape;152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graphicFrame>
        <p:nvGraphicFramePr>
          <p:cNvPr id="153" name="Google Shape;153;p7"/>
          <p:cNvGraphicFramePr/>
          <p:nvPr>
            <p:extLst>
              <p:ext uri="{D42A27DB-BD31-4B8C-83A1-F6EECF244321}">
                <p14:modId xmlns:p14="http://schemas.microsoft.com/office/powerpoint/2010/main" val="200266550"/>
              </p:ext>
            </p:extLst>
          </p:nvPr>
        </p:nvGraphicFramePr>
        <p:xfrm>
          <a:off x="662098" y="1924443"/>
          <a:ext cx="10742022" cy="4284000"/>
        </p:xfrm>
        <a:graphic>
          <a:graphicData uri="http://schemas.openxmlformats.org/drawingml/2006/table">
            <a:tbl>
              <a:tblPr>
                <a:noFill/>
                <a:tableStyleId>{91E4A574-7E8A-437F-942C-B3B3A17357DA}</a:tableStyleId>
              </a:tblPr>
              <a:tblGrid>
                <a:gridCol w="13043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7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9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7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78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49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495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495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495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495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495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495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0689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0689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0689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06892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06892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16982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506892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555072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98566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</a:tblGrid>
              <a:tr h="524757">
                <a:tc rowSpan="2"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</a:t>
                      </a:r>
                      <a:endParaRPr sz="11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1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F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2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3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817">
                <a:tc v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</a:t>
                      </a:r>
                      <a:endParaRPr sz="11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2</a:t>
                      </a:r>
                      <a:endParaRPr sz="11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3</a:t>
                      </a:r>
                      <a:endParaRPr sz="11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4</a:t>
                      </a:r>
                      <a:endParaRPr sz="11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5</a:t>
                      </a:r>
                      <a:endParaRPr sz="11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6</a:t>
                      </a:r>
                      <a:endParaRPr sz="11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7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8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9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10</a:t>
                      </a:r>
                      <a:endParaRPr sz="11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11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12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13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14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15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16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17</a:t>
                      </a:r>
                      <a:endParaRPr sz="11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18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76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Definición y diseño funcional</a:t>
                      </a:r>
                    </a:p>
                  </a:txBody>
                  <a:tcPr marL="4763" marR="4763" marT="4763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■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■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■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E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■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81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Desarrollo aplicación móvil</a:t>
                      </a:r>
                    </a:p>
                  </a:txBody>
                  <a:tcPr marL="4763" marR="4763" marT="4763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L" sz="16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Calibri"/>
                          <a:cs typeface="Arial"/>
                          <a:sym typeface="Calibri"/>
                        </a:rPr>
                        <a:t> </a:t>
                      </a:r>
                      <a:endParaRPr sz="16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L" sz="1600" b="0" i="0" u="none" strike="noStrike" cap="none" spc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Calibri"/>
                          <a:cs typeface="Arial"/>
                          <a:sym typeface="Calibri"/>
                        </a:rPr>
                        <a:t> </a:t>
                      </a:r>
                      <a:endParaRPr sz="1600" b="0" i="0" u="none" strike="noStrike" cap="none" spc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L" sz="16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Calibri"/>
                          <a:cs typeface="Arial"/>
                          <a:sym typeface="Calibri"/>
                        </a:rPr>
                        <a:t> </a:t>
                      </a:r>
                      <a:endParaRPr sz="16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L" sz="16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Calibri"/>
                          <a:cs typeface="Arial"/>
                          <a:sym typeface="Calibri"/>
                        </a:rPr>
                        <a:t> </a:t>
                      </a:r>
                      <a:endParaRPr sz="16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ES" sz="16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/>
                          <a:sym typeface="Arial"/>
                        </a:rPr>
                        <a:t>■</a:t>
                      </a:r>
                    </a:p>
                  </a:txBody>
                  <a:tcPr marL="4763" marR="4763" marT="4763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ES" sz="16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/>
                          <a:sym typeface="Arial"/>
                        </a:rPr>
                        <a:t>■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ES" sz="16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/>
                          <a:sym typeface="Arial"/>
                        </a:rPr>
                        <a:t>■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R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ES" sz="16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/>
                          <a:sym typeface="Arial"/>
                        </a:rPr>
                        <a:t>■</a:t>
                      </a:r>
                    </a:p>
                  </a:txBody>
                  <a:tcPr marL="4763" marR="4763" marT="4763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L" sz="16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Calibri"/>
                          <a:cs typeface="Arial"/>
                          <a:sym typeface="Calibri"/>
                        </a:rPr>
                        <a:t> </a:t>
                      </a:r>
                      <a:endParaRPr sz="16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L" sz="16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Calibri"/>
                          <a:cs typeface="Arial"/>
                          <a:sym typeface="Calibri"/>
                        </a:rPr>
                        <a:t> </a:t>
                      </a:r>
                      <a:endParaRPr sz="16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L" sz="16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Calibri"/>
                          <a:cs typeface="Arial"/>
                          <a:sym typeface="Calibri"/>
                        </a:rPr>
                        <a:t> </a:t>
                      </a:r>
                      <a:endParaRPr sz="16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L" sz="16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Calibri"/>
                          <a:cs typeface="Arial"/>
                          <a:sym typeface="Calibri"/>
                        </a:rPr>
                        <a:t> </a:t>
                      </a:r>
                      <a:endParaRPr sz="16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L" sz="16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Calibri"/>
                          <a:cs typeface="Arial"/>
                          <a:sym typeface="Calibri"/>
                        </a:rPr>
                        <a:t> </a:t>
                      </a:r>
                      <a:endParaRPr sz="16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L" sz="16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Calibri"/>
                          <a:cs typeface="Arial"/>
                          <a:sym typeface="Calibri"/>
                        </a:rPr>
                        <a:t> </a:t>
                      </a:r>
                      <a:endParaRPr sz="16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L" sz="16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Calibri"/>
                          <a:cs typeface="Arial"/>
                          <a:sym typeface="Calibri"/>
                        </a:rPr>
                        <a:t> </a:t>
                      </a:r>
                      <a:endParaRPr sz="16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L" sz="16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Calibri"/>
                          <a:cs typeface="Arial"/>
                          <a:sym typeface="Calibri"/>
                        </a:rPr>
                        <a:t> </a:t>
                      </a:r>
                      <a:endParaRPr sz="16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L" sz="16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Calibri"/>
                          <a:cs typeface="Arial"/>
                          <a:sym typeface="Calibri"/>
                        </a:rPr>
                        <a:t> </a:t>
                      </a:r>
                      <a:endParaRPr sz="16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s-CL" sz="16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Calibri"/>
                          <a:cs typeface="Arial"/>
                          <a:sym typeface="Calibri"/>
                        </a:rPr>
                        <a:t> </a:t>
                      </a:r>
                      <a:endParaRPr sz="16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/>
                    </a:p>
                  </a:txBody>
                  <a:tcPr marL="0" marR="0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634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Desarrollo plataforma web</a:t>
                      </a:r>
                    </a:p>
                  </a:txBody>
                  <a:tcPr marL="4763" marR="4763" marT="4763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6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 anchor="b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6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 anchor="b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600" b="0" i="0" u="none" strike="noStrike" cap="none" spc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 anchor="b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6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 anchor="b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s-ES" sz="16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Calibri"/>
                        <a:cs typeface="Arial"/>
                        <a:sym typeface="Arial"/>
                      </a:endParaRPr>
                    </a:p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6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 anchor="b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6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 anchor="b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ES" sz="16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/>
                          <a:sym typeface="Arial"/>
                        </a:rPr>
                        <a:t>■</a:t>
                      </a:r>
                    </a:p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6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 anchor="b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ES" sz="16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/>
                          <a:sym typeface="Arial"/>
                        </a:rPr>
                        <a:t>■</a:t>
                      </a:r>
                    </a:p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6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 anchor="b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ES" sz="16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/>
                          <a:sym typeface="Arial"/>
                        </a:rPr>
                        <a:t>■</a:t>
                      </a:r>
                    </a:p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6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 anchor="b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ES" sz="16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/>
                          <a:sym typeface="Arial"/>
                        </a:rPr>
                        <a:t>■</a:t>
                      </a:r>
                    </a:p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6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 anchor="b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6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 anchor="b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6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 anchor="b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6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 anchor="b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6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 anchor="b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6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 anchor="b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6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 anchor="b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6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 anchor="b"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font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endParaRPr sz="16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 anchor="b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20121"/>
                  </a:ext>
                </a:extLst>
              </a:tr>
              <a:tr h="54793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Integración y funcionalidades avanzadas</a:t>
                      </a:r>
                    </a:p>
                  </a:txBody>
                  <a:tcPr marL="4763" marR="4763" marT="4763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ES" sz="16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/>
                          <a:sym typeface="Arial"/>
                        </a:rPr>
                        <a:t>■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sz="16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 anchor="b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ES" sz="16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/>
                          <a:sym typeface="Arial"/>
                        </a:rPr>
                        <a:t>■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sz="16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 anchor="b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ES" sz="16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/>
                          <a:sym typeface="Arial"/>
                        </a:rPr>
                        <a:t>■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sz="16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 anchor="b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ES" sz="16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/>
                          <a:sym typeface="Arial"/>
                        </a:rPr>
                        <a:t>■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sz="16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 anchor="b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ES" sz="16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/>
                          <a:sym typeface="Arial"/>
                        </a:rPr>
                        <a:t>■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sz="16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 anchor="b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ES" sz="16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/>
                          <a:sym typeface="Arial"/>
                        </a:rPr>
                        <a:t>■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sz="16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 anchor="b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163796"/>
                  </a:ext>
                </a:extLst>
              </a:tr>
              <a:tr h="54081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Pruebas y validación</a:t>
                      </a:r>
                    </a:p>
                  </a:txBody>
                  <a:tcPr marL="4763" marR="4763" marT="4763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ES" sz="16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/>
                          <a:sym typeface="Arial"/>
                        </a:rPr>
                        <a:t>■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sz="16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 anchor="b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ES" sz="16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/>
                          <a:sym typeface="Arial"/>
                        </a:rPr>
                        <a:t>■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sz="16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 anchor="b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ES" sz="16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/>
                          <a:sym typeface="Arial"/>
                        </a:rPr>
                        <a:t>■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sz="16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 anchor="b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ES" sz="16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/>
                          <a:sym typeface="Arial"/>
                        </a:rPr>
                        <a:t>■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sz="16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 anchor="b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ES" sz="16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/>
                          <a:sym typeface="Arial"/>
                        </a:rPr>
                        <a:t>■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sz="16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 anchor="b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ES" sz="16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/>
                          <a:sym typeface="Arial"/>
                        </a:rPr>
                        <a:t>■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sz="16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 anchor="b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438554"/>
                  </a:ext>
                </a:extLst>
              </a:tr>
              <a:tr h="52475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Documentación y cierre</a:t>
                      </a:r>
                    </a:p>
                  </a:txBody>
                  <a:tcPr marL="4763" marR="4763" marT="4763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L" sz="16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Calibri"/>
                          <a:cs typeface="Arial"/>
                          <a:sym typeface="Calibri"/>
                        </a:rPr>
                        <a:t> </a:t>
                      </a:r>
                      <a:r>
                        <a:rPr lang="es-ES" sz="16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/>
                          <a:sym typeface="Arial"/>
                        </a:rPr>
                        <a:t>■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sz="16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 anchor="b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L" sz="16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Calibri"/>
                          <a:cs typeface="Arial"/>
                          <a:sym typeface="Calibri"/>
                        </a:rPr>
                        <a:t> </a:t>
                      </a:r>
                      <a:r>
                        <a:rPr lang="es-ES" sz="16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/>
                          <a:sym typeface="Arial"/>
                        </a:rPr>
                        <a:t>■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sz="16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 anchor="b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L" sz="16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Calibri"/>
                          <a:cs typeface="Arial"/>
                          <a:sym typeface="Calibri"/>
                        </a:rPr>
                        <a:t> </a:t>
                      </a:r>
                      <a:r>
                        <a:rPr lang="es-ES" sz="16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/>
                          <a:sym typeface="Arial"/>
                        </a:rPr>
                        <a:t>■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sz="16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 anchor="b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L" sz="16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Calibri"/>
                          <a:cs typeface="Arial"/>
                          <a:sym typeface="Calibri"/>
                        </a:rPr>
                        <a:t> </a:t>
                      </a:r>
                      <a:r>
                        <a:rPr lang="es-ES" sz="16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/>
                          <a:sym typeface="Arial"/>
                        </a:rPr>
                        <a:t>■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sz="16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 anchor="b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L" sz="16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Calibri"/>
                          <a:cs typeface="Arial"/>
                          <a:sym typeface="Calibri"/>
                        </a:rPr>
                        <a:t> </a:t>
                      </a:r>
                      <a:r>
                        <a:rPr lang="es-ES" sz="16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/>
                          <a:sym typeface="Arial"/>
                        </a:rPr>
                        <a:t>■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sz="16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 anchor="b"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s-CL" sz="16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Calibri"/>
                          <a:cs typeface="Arial"/>
                          <a:sym typeface="Calibri"/>
                        </a:rPr>
                        <a:t> </a:t>
                      </a:r>
                      <a:r>
                        <a:rPr lang="es-ES" sz="16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cs typeface="Arial"/>
                          <a:sym typeface="Arial"/>
                        </a:rPr>
                        <a:t>■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sz="1600" b="0" i="0" u="none" strike="noStrike" cap="none" spc="0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  <a:ea typeface="Calibri"/>
                        <a:cs typeface="Arial"/>
                        <a:sym typeface="Calibri"/>
                      </a:endParaRPr>
                    </a:p>
                  </a:txBody>
                  <a:tcPr marL="68575" marR="68575" marT="0" marB="0" anchor="b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dirty="0"/>
                    </a:p>
                  </a:txBody>
                  <a:tcPr marL="0" marR="0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Google Shape;112;p3">
            <a:extLst>
              <a:ext uri="{FF2B5EF4-FFF2-40B4-BE49-F238E27FC236}">
                <a16:creationId xmlns:a16="http://schemas.microsoft.com/office/drawing/2014/main" id="{1FED3FB1-506E-D5D2-288B-A1387122EA9B}"/>
              </a:ext>
            </a:extLst>
          </p:cNvPr>
          <p:cNvSpPr txBox="1"/>
          <p:nvPr/>
        </p:nvSpPr>
        <p:spPr>
          <a:xfrm>
            <a:off x="136188" y="368928"/>
            <a:ext cx="4343797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dirty="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“SSO Gestión de riesgo industrial v2”</a:t>
            </a:r>
            <a:endParaRPr sz="1200" dirty="0"/>
          </a:p>
        </p:txBody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8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8"/>
          <p:cNvSpPr txBox="1"/>
          <p:nvPr/>
        </p:nvSpPr>
        <p:spPr>
          <a:xfrm>
            <a:off x="147690" y="388695"/>
            <a:ext cx="4723359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dirty="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“SSO Gestión de riesgo industrial v2”</a:t>
            </a:r>
            <a:endParaRPr sz="1200" dirty="0"/>
          </a:p>
        </p:txBody>
      </p:sp>
      <p:sp>
        <p:nvSpPr>
          <p:cNvPr id="160" name="Google Shape;160;p8"/>
          <p:cNvSpPr txBox="1"/>
          <p:nvPr/>
        </p:nvSpPr>
        <p:spPr>
          <a:xfrm>
            <a:off x="3332672" y="618328"/>
            <a:ext cx="51816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 dirty="0"/>
          </a:p>
        </p:txBody>
      </p:sp>
      <p:cxnSp>
        <p:nvCxnSpPr>
          <p:cNvPr id="161" name="Google Shape;161;p8"/>
          <p:cNvCxnSpPr/>
          <p:nvPr/>
        </p:nvCxnSpPr>
        <p:spPr>
          <a:xfrm>
            <a:off x="0" y="677514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BF2CB618-D9A9-DE03-947C-EC1685D0BC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8376" y="1513092"/>
            <a:ext cx="9010870" cy="5074972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9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9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/>
          </a:p>
        </p:txBody>
      </p:sp>
      <p:cxnSp>
        <p:nvCxnSpPr>
          <p:cNvPr id="169" name="Google Shape;169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" name="Google Shape;112;p3">
            <a:extLst>
              <a:ext uri="{FF2B5EF4-FFF2-40B4-BE49-F238E27FC236}">
                <a16:creationId xmlns:a16="http://schemas.microsoft.com/office/drawing/2014/main" id="{C2A099B6-D2B6-7E4F-FD7A-8131720F0522}"/>
              </a:ext>
            </a:extLst>
          </p:cNvPr>
          <p:cNvSpPr txBox="1"/>
          <p:nvPr/>
        </p:nvSpPr>
        <p:spPr>
          <a:xfrm>
            <a:off x="136188" y="368928"/>
            <a:ext cx="4343797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dirty="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“SSO Gestión de riesgo industrial v2”</a:t>
            </a:r>
            <a:endParaRPr sz="1200" dirty="0"/>
          </a:p>
        </p:txBody>
      </p:sp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10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0"/>
          <p:cNvSpPr txBox="1"/>
          <p:nvPr/>
        </p:nvSpPr>
        <p:spPr>
          <a:xfrm>
            <a:off x="136189" y="368928"/>
            <a:ext cx="4688854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600" dirty="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“SSO Gestión de riesgo industrial v2”</a:t>
            </a:r>
            <a:endParaRPr sz="1200" dirty="0"/>
          </a:p>
        </p:txBody>
      </p:sp>
      <p:sp>
        <p:nvSpPr>
          <p:cNvPr id="176" name="Google Shape;176;p10"/>
          <p:cNvSpPr txBox="1"/>
          <p:nvPr/>
        </p:nvSpPr>
        <p:spPr>
          <a:xfrm>
            <a:off x="3207683" y="758027"/>
            <a:ext cx="482504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3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 dirty="0"/>
          </a:p>
        </p:txBody>
      </p:sp>
      <p:cxnSp>
        <p:nvCxnSpPr>
          <p:cNvPr id="177" name="Google Shape;177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BE6F1849-FFC7-0259-42FF-CF07179187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33" t="19287" r="1547" b="713"/>
          <a:stretch>
            <a:fillRect/>
          </a:stretch>
        </p:blipFill>
        <p:spPr>
          <a:xfrm>
            <a:off x="698739" y="1531850"/>
            <a:ext cx="10794521" cy="505298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11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1"/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400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*Exposición del sistema</a:t>
            </a:r>
            <a:endParaRPr sz="2400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12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2"/>
          <p:cNvSpPr txBox="1"/>
          <p:nvPr/>
        </p:nvSpPr>
        <p:spPr>
          <a:xfrm>
            <a:off x="1" y="1459095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/>
          </a:p>
        </p:txBody>
      </p:sp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13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3"/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/>
          </a:p>
        </p:txBody>
      </p:sp>
    </p:spTree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14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4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/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1077</TotalTime>
  <Words>849</Words>
  <Application>Microsoft Office PowerPoint</Application>
  <PresentationFormat>Panorámica</PresentationFormat>
  <Paragraphs>205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Aptos Narrow</vt:lpstr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Gerardo Galan Cruz</dc:creator>
  <cp:lastModifiedBy>Luz Hermosilla Sarabia</cp:lastModifiedBy>
  <cp:revision>1</cp:revision>
  <dcterms:created xsi:type="dcterms:W3CDTF">2023-10-28T21:12:11Z</dcterms:created>
  <dcterms:modified xsi:type="dcterms:W3CDTF">2026-09-04T20:48:47Z</dcterms:modified>
</cp:coreProperties>
</file>